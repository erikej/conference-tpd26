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156ADF-80F5-448B-8AA0-1D6ABA5C0E88}" v="1" dt="2026-09-16T05:31:34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 Ejlskov Jensen (Context&amp;)" userId="4aa40976-d7c6-47fa-b4ba-cf0621f5de0c" providerId="ADAL" clId="{15EFA401-E58A-4746-969F-B770673BD714}"/>
    <pc:docChg chg="undo custSel addSld delSld modSld">
      <pc:chgData name="Erik Ejlskov Jensen (Context&amp;)" userId="4aa40976-d7c6-47fa-b4ba-cf0621f5de0c" providerId="ADAL" clId="{15EFA401-E58A-4746-969F-B770673BD714}" dt="2026-09-16T05:34:20.421" v="359" actId="20577"/>
      <pc:docMkLst>
        <pc:docMk/>
      </pc:docMkLst>
      <pc:sldChg chg="modSp mod">
        <pc:chgData name="Erik Ejlskov Jensen (Context&amp;)" userId="4aa40976-d7c6-47fa-b4ba-cf0621f5de0c" providerId="ADAL" clId="{15EFA401-E58A-4746-969F-B770673BD714}" dt="2026-09-12T06:25:23.053" v="10" actId="20577"/>
        <pc:sldMkLst>
          <pc:docMk/>
          <pc:sldMk cId="0" sldId="256"/>
        </pc:sldMkLst>
        <pc:spChg chg="mod">
          <ac:chgData name="Erik Ejlskov Jensen (Context&amp;)" userId="4aa40976-d7c6-47fa-b4ba-cf0621f5de0c" providerId="ADAL" clId="{15EFA401-E58A-4746-969F-B770673BD714}" dt="2026-09-12T06:25:23.053" v="10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Erik Ejlskov Jensen (Context&amp;)" userId="4aa40976-d7c6-47fa-b4ba-cf0621f5de0c" providerId="ADAL" clId="{15EFA401-E58A-4746-969F-B770673BD714}" dt="2026-09-12T06:26:15.880" v="12" actId="6549"/>
        <pc:sldMkLst>
          <pc:docMk/>
          <pc:sldMk cId="0" sldId="257"/>
        </pc:sldMkLst>
        <pc:spChg chg="mod">
          <ac:chgData name="Erik Ejlskov Jensen (Context&amp;)" userId="4aa40976-d7c6-47fa-b4ba-cf0621f5de0c" providerId="ADAL" clId="{15EFA401-E58A-4746-969F-B770673BD714}" dt="2026-09-12T06:26:15.880" v="12" actId="6549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Erik Ejlskov Jensen (Context&amp;)" userId="4aa40976-d7c6-47fa-b4ba-cf0621f5de0c" providerId="ADAL" clId="{15EFA401-E58A-4746-969F-B770673BD714}" dt="2026-09-16T05:30:20.235" v="139" actId="6549"/>
        <pc:sldMkLst>
          <pc:docMk/>
          <pc:sldMk cId="0" sldId="258"/>
        </pc:sldMkLst>
        <pc:spChg chg="mod">
          <ac:chgData name="Erik Ejlskov Jensen (Context&amp;)" userId="4aa40976-d7c6-47fa-b4ba-cf0621f5de0c" providerId="ADAL" clId="{15EFA401-E58A-4746-969F-B770673BD714}" dt="2026-09-12T06:26:39.326" v="13" actId="6549"/>
          <ac:spMkLst>
            <pc:docMk/>
            <pc:sldMk cId="0" sldId="258"/>
            <ac:spMk id="8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26:44.715" v="14" actId="6549"/>
          <ac:spMkLst>
            <pc:docMk/>
            <pc:sldMk cId="0" sldId="258"/>
            <ac:spMk id="12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26:59.604" v="15" actId="6549"/>
          <ac:spMkLst>
            <pc:docMk/>
            <pc:sldMk cId="0" sldId="258"/>
            <ac:spMk id="16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27:04.261" v="16" actId="6549"/>
          <ac:spMkLst>
            <pc:docMk/>
            <pc:sldMk cId="0" sldId="258"/>
            <ac:spMk id="20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6T05:30:20.235" v="139" actId="6549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Erik Ejlskov Jensen (Context&amp;)" userId="4aa40976-d7c6-47fa-b4ba-cf0621f5de0c" providerId="ADAL" clId="{15EFA401-E58A-4746-969F-B770673BD714}" dt="2026-09-12T06:39:53.141" v="120" actId="20577"/>
        <pc:sldMkLst>
          <pc:docMk/>
          <pc:sldMk cId="0" sldId="260"/>
        </pc:sldMkLst>
        <pc:spChg chg="mod">
          <ac:chgData name="Erik Ejlskov Jensen (Context&amp;)" userId="4aa40976-d7c6-47fa-b4ba-cf0621f5de0c" providerId="ADAL" clId="{15EFA401-E58A-4746-969F-B770673BD714}" dt="2026-09-12T06:39:53.141" v="120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Erik Ejlskov Jensen (Context&amp;)" userId="4aa40976-d7c6-47fa-b4ba-cf0621f5de0c" providerId="ADAL" clId="{15EFA401-E58A-4746-969F-B770673BD714}" dt="2026-09-12T06:40:45.936" v="134" actId="20577"/>
        <pc:sldMkLst>
          <pc:docMk/>
          <pc:sldMk cId="0" sldId="264"/>
        </pc:sldMkLst>
        <pc:spChg chg="mod">
          <ac:chgData name="Erik Ejlskov Jensen (Context&amp;)" userId="4aa40976-d7c6-47fa-b4ba-cf0621f5de0c" providerId="ADAL" clId="{15EFA401-E58A-4746-969F-B770673BD714}" dt="2026-09-12T06:40:45.936" v="134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28:22.091" v="17" actId="6549"/>
          <ac:spMkLst>
            <pc:docMk/>
            <pc:sldMk cId="0" sldId="264"/>
            <ac:spMk id="13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28:28.731" v="18" actId="6549"/>
          <ac:spMkLst>
            <pc:docMk/>
            <pc:sldMk cId="0" sldId="264"/>
            <ac:spMk id="16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28:33.141" v="19" actId="6549"/>
          <ac:spMkLst>
            <pc:docMk/>
            <pc:sldMk cId="0" sldId="264"/>
            <ac:spMk id="19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28:38.260" v="20" actId="6549"/>
          <ac:spMkLst>
            <pc:docMk/>
            <pc:sldMk cId="0" sldId="264"/>
            <ac:spMk id="22" creationId="{00000000-0000-0000-0000-000000000000}"/>
          </ac:spMkLst>
        </pc:spChg>
      </pc:sldChg>
      <pc:sldChg chg="addSp delSp modSp mod">
        <pc:chgData name="Erik Ejlskov Jensen (Context&amp;)" userId="4aa40976-d7c6-47fa-b4ba-cf0621f5de0c" providerId="ADAL" clId="{15EFA401-E58A-4746-969F-B770673BD714}" dt="2026-09-12T06:38:22.032" v="109" actId="20577"/>
        <pc:sldMkLst>
          <pc:docMk/>
          <pc:sldMk cId="0" sldId="266"/>
        </pc:sldMkLst>
        <pc:spChg chg="mod">
          <ac:chgData name="Erik Ejlskov Jensen (Context&amp;)" userId="4aa40976-d7c6-47fa-b4ba-cf0621f5de0c" providerId="ADAL" clId="{15EFA401-E58A-4746-969F-B770673BD714}" dt="2026-09-12T06:35:55.355" v="56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36:17.458" v="60" actId="6549"/>
          <ac:spMkLst>
            <pc:docMk/>
            <pc:sldMk cId="0" sldId="266"/>
            <ac:spMk id="9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35:58.248" v="57" actId="6549"/>
          <ac:spMkLst>
            <pc:docMk/>
            <pc:sldMk cId="0" sldId="266"/>
            <ac:spMk id="10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37:48.315" v="91" actId="6549"/>
          <ac:spMkLst>
            <pc:docMk/>
            <pc:sldMk cId="0" sldId="266"/>
            <ac:spMk id="11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36:20.977" v="62" actId="20577"/>
          <ac:spMkLst>
            <pc:docMk/>
            <pc:sldMk cId="0" sldId="266"/>
            <ac:spMk id="14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37:31.823" v="88" actId="2057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37:52.027" v="92" actId="6549"/>
          <ac:spMkLst>
            <pc:docMk/>
            <pc:sldMk cId="0" sldId="266"/>
            <ac:spMk id="16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37:56.154" v="93" actId="6549"/>
          <ac:spMkLst>
            <pc:docMk/>
            <pc:sldMk cId="0" sldId="266"/>
            <ac:spMk id="21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2T06:38:22.032" v="109" actId="20577"/>
          <ac:spMkLst>
            <pc:docMk/>
            <pc:sldMk cId="0" sldId="266"/>
            <ac:spMk id="23" creationId="{00000000-0000-0000-0000-000000000000}"/>
          </ac:spMkLst>
        </pc:spChg>
      </pc:sldChg>
      <pc:sldChg chg="modSp mod">
        <pc:chgData name="Erik Ejlskov Jensen (Context&amp;)" userId="4aa40976-d7c6-47fa-b4ba-cf0621f5de0c" providerId="ADAL" clId="{15EFA401-E58A-4746-969F-B770673BD714}" dt="2026-09-12T06:33:17.818" v="44" actId="20577"/>
        <pc:sldMkLst>
          <pc:docMk/>
          <pc:sldMk cId="0" sldId="267"/>
        </pc:sldMkLst>
        <pc:spChg chg="mod">
          <ac:chgData name="Erik Ejlskov Jensen (Context&amp;)" userId="4aa40976-d7c6-47fa-b4ba-cf0621f5de0c" providerId="ADAL" clId="{15EFA401-E58A-4746-969F-B770673BD714}" dt="2026-09-12T06:33:17.818" v="44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1T11:23:37.040" v="8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Erik Ejlskov Jensen (Context&amp;)" userId="4aa40976-d7c6-47fa-b4ba-cf0621f5de0c" providerId="ADAL" clId="{15EFA401-E58A-4746-969F-B770673BD714}" dt="2026-09-11T11:23:21.936" v="3" actId="20577"/>
          <ac:spMkLst>
            <pc:docMk/>
            <pc:sldMk cId="0" sldId="267"/>
            <ac:spMk id="16" creationId="{00000000-0000-0000-0000-000000000000}"/>
          </ac:spMkLst>
        </pc:spChg>
      </pc:sldChg>
      <pc:sldChg chg="addSp delSp modSp add mod setBg">
        <pc:chgData name="Erik Ejlskov Jensen (Context&amp;)" userId="4aa40976-d7c6-47fa-b4ba-cf0621f5de0c" providerId="ADAL" clId="{15EFA401-E58A-4746-969F-B770673BD714}" dt="2026-09-16T05:34:20.421" v="359" actId="20577"/>
        <pc:sldMkLst>
          <pc:docMk/>
          <pc:sldMk cId="507720412" sldId="268"/>
        </pc:sldMkLst>
        <pc:spChg chg="mod">
          <ac:chgData name="Erik Ejlskov Jensen (Context&amp;)" userId="4aa40976-d7c6-47fa-b4ba-cf0621f5de0c" providerId="ADAL" clId="{15EFA401-E58A-4746-969F-B770673BD714}" dt="2026-09-16T05:32:03.201" v="195" actId="20577"/>
          <ac:spMkLst>
            <pc:docMk/>
            <pc:sldMk cId="507720412" sldId="268"/>
            <ac:spMk id="6" creationId="{D4F5730E-702D-7000-20D1-31BF79B208AC}"/>
          </ac:spMkLst>
        </pc:spChg>
        <pc:spChg chg="mod">
          <ac:chgData name="Erik Ejlskov Jensen (Context&amp;)" userId="4aa40976-d7c6-47fa-b4ba-cf0621f5de0c" providerId="ADAL" clId="{15EFA401-E58A-4746-969F-B770673BD714}" dt="2026-09-16T05:32:58.637" v="231" actId="20577"/>
          <ac:spMkLst>
            <pc:docMk/>
            <pc:sldMk cId="507720412" sldId="268"/>
            <ac:spMk id="10" creationId="{A1C2EAB2-D659-08D0-6C90-F98B35D48A3B}"/>
          </ac:spMkLst>
        </pc:spChg>
        <pc:spChg chg="mod">
          <ac:chgData name="Erik Ejlskov Jensen (Context&amp;)" userId="4aa40976-d7c6-47fa-b4ba-cf0621f5de0c" providerId="ADAL" clId="{15EFA401-E58A-4746-969F-B770673BD714}" dt="2026-09-16T05:33:28.770" v="290" actId="20577"/>
          <ac:spMkLst>
            <pc:docMk/>
            <pc:sldMk cId="507720412" sldId="268"/>
            <ac:spMk id="15" creationId="{2FCDFEA6-ACC3-267B-E521-7DEE526E8BD5}"/>
          </ac:spMkLst>
        </pc:spChg>
        <pc:spChg chg="mod">
          <ac:chgData name="Erik Ejlskov Jensen (Context&amp;)" userId="4aa40976-d7c6-47fa-b4ba-cf0621f5de0c" providerId="ADAL" clId="{15EFA401-E58A-4746-969F-B770673BD714}" dt="2026-09-16T05:33:57.330" v="341" actId="20577"/>
          <ac:spMkLst>
            <pc:docMk/>
            <pc:sldMk cId="507720412" sldId="268"/>
            <ac:spMk id="20" creationId="{3B4AD1C6-6CEB-089D-EE14-63668B974746}"/>
          </ac:spMkLst>
        </pc:spChg>
        <pc:spChg chg="del">
          <ac:chgData name="Erik Ejlskov Jensen (Context&amp;)" userId="4aa40976-d7c6-47fa-b4ba-cf0621f5de0c" providerId="ADAL" clId="{15EFA401-E58A-4746-969F-B770673BD714}" dt="2026-09-16T05:34:05.793" v="342" actId="478"/>
          <ac:spMkLst>
            <pc:docMk/>
            <pc:sldMk cId="507720412" sldId="268"/>
            <ac:spMk id="22" creationId="{EC586432-6AF6-EFA8-C415-227B775EAD57}"/>
          </ac:spMkLst>
        </pc:spChg>
        <pc:spChg chg="add del mod">
          <ac:chgData name="Erik Ejlskov Jensen (Context&amp;)" userId="4aa40976-d7c6-47fa-b4ba-cf0621f5de0c" providerId="ADAL" clId="{15EFA401-E58A-4746-969F-B770673BD714}" dt="2026-09-16T05:34:20.421" v="359" actId="20577"/>
          <ac:spMkLst>
            <pc:docMk/>
            <pc:sldMk cId="507720412" sldId="268"/>
            <ac:spMk id="23" creationId="{778F308D-84B6-5001-2C3E-E1BB8BF94EE8}"/>
          </ac:spMkLst>
        </pc:spChg>
      </pc:sldChg>
      <pc:sldChg chg="addSp delSp new del mod">
        <pc:chgData name="Erik Ejlskov Jensen (Context&amp;)" userId="4aa40976-d7c6-47fa-b4ba-cf0621f5de0c" providerId="ADAL" clId="{15EFA401-E58A-4746-969F-B770673BD714}" dt="2026-09-16T05:29:52.771" v="138" actId="47"/>
        <pc:sldMkLst>
          <pc:docMk/>
          <pc:sldMk cId="2626128399" sldId="268"/>
        </pc:sldMkLst>
        <pc:spChg chg="add del">
          <ac:chgData name="Erik Ejlskov Jensen (Context&amp;)" userId="4aa40976-d7c6-47fa-b4ba-cf0621f5de0c" providerId="ADAL" clId="{15EFA401-E58A-4746-969F-B770673BD714}" dt="2026-09-16T05:29:42.951" v="137" actId="22"/>
          <ac:spMkLst>
            <pc:docMk/>
            <pc:sldMk cId="2626128399" sldId="268"/>
            <ac:spMk id="3" creationId="{09E725F6-ECDD-C8D5-8050-F275EF1361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1489-7091-6AF9-BCDC-97A9FB5F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411C9-7FAE-0F77-EB96-77863CC96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380EA-FD1E-B815-E03C-53AF0223A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DF067-40AC-0B36-3F2F-DFF87865E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91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18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l="13796" r="1379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92240" cy="5143500"/>
          </a:xfrm>
          <a:prstGeom prst="rect">
            <a:avLst/>
          </a:prstGeom>
          <a:solidFill>
            <a:srgbClr val="0E1116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kick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133856"/>
            <a:ext cx="54864" cy="27432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Text 2"/>
          <p:cNvSpPr/>
          <p:nvPr/>
        </p:nvSpPr>
        <p:spPr>
          <a:xfrm>
            <a:off x="822960" y="11155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CODE ANALYSIS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627632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 it before it ships</a:t>
            </a:r>
            <a:endParaRPr lang="en-US" sz="4600" dirty="0"/>
          </a:p>
        </p:txBody>
      </p:sp>
      <p:sp>
        <p:nvSpPr>
          <p:cNvPr id="7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670048"/>
            <a:ext cx="100584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640080" y="29443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squiggles in VS Code to a red build in CI — applied to T-SQL.</a:t>
            </a:r>
            <a:endParaRPr lang="en-US" sz="1500" dirty="0"/>
          </a:p>
        </p:txBody>
      </p:sp>
      <p:sp>
        <p:nvSpPr>
          <p:cNvPr id="9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00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github.com/ErikEJ/SqlServer.Rules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54864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713232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C# is analyzed. Your SQL probably isn't.</a:t>
            </a:r>
            <a:endParaRPr lang="en-US" sz="3000" dirty="0"/>
          </a:p>
        </p:txBody>
      </p:sp>
      <p:sp>
        <p:nvSpPr>
          <p:cNvPr id="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72768"/>
            <a:ext cx="393192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72768"/>
            <a:ext cx="45720" cy="146304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Analyzers ship with the SDK. Squiggles in the editor, warnings at build, errors in CI. Nobody argues about it.</a:t>
            </a:r>
            <a:endParaRPr lang="en-US" sz="12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72768"/>
            <a:ext cx="393192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72768"/>
            <a:ext cx="45720" cy="1463040"/>
          </a:xfrm>
          <a:prstGeom prst="rect">
            <a:avLst/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2103120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Reviewed by eye, if at all. Problems surface as a slow query or an incident — in production.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database is the one place where a bad decision is hardest to undo.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69417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code analysis for T-SQL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0" y="4937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54864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713232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REFERENCE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Roslyn analyzers got right</a:t>
            </a:r>
            <a:endParaRPr lang="en-US" sz="3000" dirty="0"/>
          </a:p>
        </p:txBody>
      </p:sp>
      <p:sp>
        <p:nvSpPr>
          <p:cNvPr id="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54480"/>
            <a:ext cx="3931920" cy="1225296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54480"/>
            <a:ext cx="45720" cy="1225296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841248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rules everywhere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011680"/>
            <a:ext cx="3493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3931920" cy="1225296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45720" cy="1225296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4956048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as packages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956048" y="2011680"/>
            <a:ext cx="3493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13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35808"/>
            <a:ext cx="3931920" cy="1225296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35808"/>
            <a:ext cx="45720" cy="1225296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3"/>
          <p:cNvSpPr/>
          <p:nvPr/>
        </p:nvSpPr>
        <p:spPr>
          <a:xfrm>
            <a:off x="841248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is a dial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1248" y="3493008"/>
            <a:ext cx="3493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35808"/>
            <a:ext cx="3931920" cy="1225296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35808"/>
            <a:ext cx="45720" cy="1225296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Text 17"/>
          <p:cNvSpPr/>
          <p:nvPr/>
        </p:nvSpPr>
        <p:spPr>
          <a:xfrm>
            <a:off x="4956048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Fixes, not just findings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956048" y="3493008"/>
            <a:ext cx="3493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37083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code analysis for T-SQL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937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on of a code editor showing a SQL statement with a warning squiggle underneath"/>
          <p:cNvPicPr>
            <a:picLocks noChangeAspect="1"/>
          </p:cNvPicPr>
          <p:nvPr/>
        </p:nvPicPr>
        <p:blipFill>
          <a:blip r:embed="rId3"/>
          <a:srcRect l="30817" r="30817"/>
          <a:stretch/>
        </p:blipFill>
        <p:spPr>
          <a:xfrm>
            <a:off x="5897880" y="0"/>
            <a:ext cx="3246120" cy="5143500"/>
          </a:xfrm>
          <a:prstGeom prst="rect">
            <a:avLst/>
          </a:prstGeom>
        </p:spPr>
      </p:pic>
      <p:sp>
        <p:nvSpPr>
          <p:cNvPr id="3" name="image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0"/>
            <a:ext cx="3246120" cy="5143500"/>
          </a:xfrm>
          <a:prstGeom prst="rect">
            <a:avLst/>
          </a:prstGeom>
          <a:solidFill>
            <a:srgbClr val="0E111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kick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54864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Text 2"/>
          <p:cNvSpPr/>
          <p:nvPr/>
        </p:nvSpPr>
        <p:spPr>
          <a:xfrm>
            <a:off x="713232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T-SQL EQUIVALENT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SqlServer.Rules, built on DacFx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140+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69164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T-SQL analysis rules</a:t>
            </a:r>
            <a:endParaRPr lang="en-US" sz="1400" dirty="0"/>
          </a:p>
        </p:txBody>
      </p:sp>
      <p:sp>
        <p:nvSpPr>
          <p:cNvPr id="9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276856"/>
            <a:ext cx="128016" cy="128016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868680" y="21488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Code, Visual Studio, SSMS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8680" y="24048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feedback as you type</a:t>
            </a:r>
            <a:endParaRPr lang="en-US" sz="1150" dirty="0"/>
          </a:p>
        </p:txBody>
      </p:sp>
      <p:sp>
        <p:nvSpPr>
          <p:cNvPr id="12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35224"/>
            <a:ext cx="128016" cy="128016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868680" y="28072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tsqlanalyze CLI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68680" y="30632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script, any pipeline</a:t>
            </a:r>
            <a:endParaRPr lang="en-US" sz="1150" dirty="0"/>
          </a:p>
        </p:txBody>
      </p:sp>
      <p:sp>
        <p:nvSpPr>
          <p:cNvPr id="15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593592"/>
            <a:ext cx="128016" cy="128016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3"/>
          <p:cNvSpPr/>
          <p:nvPr/>
        </p:nvSpPr>
        <p:spPr>
          <a:xfrm>
            <a:off x="868680" y="34655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database projects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68680" y="3721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at build time</a:t>
            </a:r>
            <a:endParaRPr lang="en-US" sz="1150" dirty="0"/>
          </a:p>
        </p:txBody>
      </p:sp>
      <p:sp>
        <p:nvSpPr>
          <p:cNvPr id="18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251960"/>
            <a:ext cx="128016" cy="128016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Text 16"/>
          <p:cNvSpPr/>
          <p:nvPr/>
        </p:nvSpPr>
        <p:spPr>
          <a:xfrm>
            <a:off x="868680" y="41239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68680" y="43799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rules for AI agents</a:t>
            </a:r>
            <a:endParaRPr lang="en-US" sz="1150" dirty="0"/>
          </a:p>
        </p:txBody>
      </p:sp>
      <p:sp>
        <p:nvSpPr>
          <p:cNvPr id="21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Text 19"/>
          <p:cNvSpPr/>
          <p:nvPr/>
        </p:nvSpPr>
        <p:spPr>
          <a:xfrm>
            <a:off x="54864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code analysis for T-SQL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863840" y="4937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54864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713232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— THE EDITOR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Squiggles while you type, no build required</a:t>
            </a:r>
            <a:endParaRPr lang="en-US" sz="3000" dirty="0"/>
          </a:p>
        </p:txBody>
      </p:sp>
      <p:sp>
        <p:nvSpPr>
          <p:cNvPr id="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72768"/>
            <a:ext cx="25603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72768"/>
            <a:ext cx="45720" cy="160020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84832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any .sql file — a procedure, a migration, a one-off fix — and analysis starts on its own.</a:t>
            </a:r>
            <a:endParaRPr lang="en-US" sz="110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572768"/>
            <a:ext cx="25603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572768"/>
            <a:ext cx="45720" cy="160020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356616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Hover for the why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084832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squiggle carries a rule id, a plain-English explanation, and a link to the docs.</a:t>
            </a:r>
            <a:endParaRPr lang="en-US" sz="1100" dirty="0"/>
          </a:p>
        </p:txBody>
      </p:sp>
      <p:sp>
        <p:nvSpPr>
          <p:cNvPr id="13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572768"/>
            <a:ext cx="25603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572768"/>
            <a:ext cx="45720" cy="160020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3"/>
          <p:cNvSpPr/>
          <p:nvPr/>
        </p:nvSpPr>
        <p:spPr>
          <a:xfrm>
            <a:off x="630936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configuration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084832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the extension; the tooling downloads itself on first use, with sensible defaults.</a:t>
            </a:r>
            <a:endParaRPr lang="en-US" sz="1100" dirty="0"/>
          </a:p>
        </p:txBody>
      </p:sp>
      <p:sp>
        <p:nvSpPr>
          <p:cNvPr id="17" name="setting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01568"/>
            <a:ext cx="804672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TUNE IT IN SETTINGS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3822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-SqlServer.Rules.SRD0004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40782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one rule off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0" y="3822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-SqlServer.Rules.SRN*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0" y="40782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silence a whole family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0" y="3822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+!SqlServer.Rules.SRN0005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40782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 it to an error</a:t>
            </a:r>
            <a:endParaRPr lang="en-US" sz="1050" dirty="0"/>
          </a:p>
        </p:txBody>
      </p:sp>
      <p:sp>
        <p:nvSpPr>
          <p:cNvPr id="2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Text 24"/>
          <p:cNvSpPr/>
          <p:nvPr/>
        </p:nvSpPr>
        <p:spPr>
          <a:xfrm>
            <a:off x="54864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code analysis for T-SQL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937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54864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713232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CATCHES — 1 OF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and naming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that works today and surprises you later.</a:t>
            </a:r>
            <a:endParaRPr lang="en-US" sz="1250" dirty="0"/>
          </a:p>
        </p:txBody>
      </p:sp>
      <p:sp>
        <p:nvSpPr>
          <p:cNvPr id="6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55648"/>
            <a:ext cx="45720" cy="640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777240" y="18013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SRD0011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801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with NULL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18013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NULL never matches. Use IS NULL — this one silently returns nothing.</a:t>
            </a:r>
            <a:endParaRPr lang="en-US" sz="11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05456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05456"/>
            <a:ext cx="45720" cy="640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1"/>
          <p:cNvSpPr/>
          <p:nvPr/>
        </p:nvSpPr>
        <p:spPr>
          <a:xfrm>
            <a:off x="777240" y="2551176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SRD0006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5511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SELECT *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3400" y="25511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 order and count become an implicit contract you never agreed to.</a:t>
            </a:r>
            <a:endParaRPr lang="en-US" sz="1100" dirty="0"/>
          </a:p>
        </p:txBody>
      </p:sp>
      <p:sp>
        <p:nvSpPr>
          <p:cNvPr id="16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55264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55264"/>
            <a:ext cx="45720" cy="640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SRD0071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33009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without ELSE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43400" y="33009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matching WHEN quietly yields NULL instead of a default value.</a:t>
            </a:r>
            <a:endParaRPr lang="en-US" sz="1100" dirty="0"/>
          </a:p>
        </p:txBody>
      </p:sp>
      <p:sp>
        <p:nvSpPr>
          <p:cNvPr id="2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05072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05072"/>
            <a:ext cx="45720" cy="640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Text 21"/>
          <p:cNvSpPr/>
          <p:nvPr/>
        </p:nvSpPr>
        <p:spPr>
          <a:xfrm>
            <a:off x="777240" y="40507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SRN*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4050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Naming conventions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43400" y="40507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object and column naming, enforced rather than reviewed.</a:t>
            </a:r>
            <a:endParaRPr lang="en-US" sz="1100" dirty="0"/>
          </a:p>
        </p:txBody>
      </p:sp>
      <p:sp>
        <p:nvSpPr>
          <p:cNvPr id="26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7" name="Text 25"/>
          <p:cNvSpPr/>
          <p:nvPr/>
        </p:nvSpPr>
        <p:spPr>
          <a:xfrm>
            <a:off x="54864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code analysis for T-SQL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937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54864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713232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CATCHES — 2 OF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anti-patterns that only hurt once the table gets big.</a:t>
            </a:r>
            <a:endParaRPr lang="en-US" sz="1250" dirty="0"/>
          </a:p>
        </p:txBody>
      </p:sp>
      <p:sp>
        <p:nvSpPr>
          <p:cNvPr id="6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55648"/>
            <a:ext cx="4572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777240" y="18013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SRD0002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801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primary key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18013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table with no primary key cannot be reliably updated, replicated or indexed.</a:t>
            </a:r>
            <a:endParaRPr lang="en-US" sz="11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05456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05456"/>
            <a:ext cx="4572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1"/>
          <p:cNvSpPr/>
          <p:nvPr/>
        </p:nvSpPr>
        <p:spPr>
          <a:xfrm>
            <a:off x="777240" y="2551176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SRD0003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5511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Wide primary keys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3400" y="25511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GUIDs and wide VARCHAR keys bloat every non-clustered index that carries them.</a:t>
            </a:r>
            <a:endParaRPr lang="en-US" sz="1100" dirty="0"/>
          </a:p>
        </p:txBody>
      </p:sp>
      <p:sp>
        <p:nvSpPr>
          <p:cNvPr id="16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55264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55264"/>
            <a:ext cx="4572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SRD0004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33009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on foreign key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43400" y="33009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sides of a foreign key should be indexed, or joins and deletes scan.</a:t>
            </a:r>
            <a:endParaRPr lang="en-US" sz="1100" dirty="0"/>
          </a:p>
        </p:txBody>
      </p:sp>
      <p:sp>
        <p:nvSpPr>
          <p:cNvPr id="2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05072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05072"/>
            <a:ext cx="4572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Text 21"/>
          <p:cNvSpPr/>
          <p:nvPr/>
        </p:nvSpPr>
        <p:spPr>
          <a:xfrm>
            <a:off x="777240" y="40507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SRP0025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4050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* in EXISTS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43400" y="40507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EXISTS (SELECT 1 …) states the intent without dragging in a column list.</a:t>
            </a:r>
            <a:endParaRPr lang="en-US" sz="1100" dirty="0"/>
          </a:p>
        </p:txBody>
      </p:sp>
      <p:sp>
        <p:nvSpPr>
          <p:cNvPr id="26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7" name="Text 25"/>
          <p:cNvSpPr/>
          <p:nvPr/>
        </p:nvSpPr>
        <p:spPr>
          <a:xfrm>
            <a:off x="54864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code analysis for T-SQL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937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54864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713232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CATCHES — 3 OF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findings you would rather not read about in an incident report.</a:t>
            </a:r>
            <a:endParaRPr lang="en-US" sz="1250" dirty="0"/>
          </a:p>
        </p:txBody>
      </p:sp>
      <p:sp>
        <p:nvSpPr>
          <p:cNvPr id="6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55648"/>
            <a:ext cx="45720" cy="640080"/>
          </a:xfrm>
          <a:prstGeom prst="rect">
            <a:avLst/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777240" y="18013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SRD0075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801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Hard-coded credentials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18013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Literals assigned to @password, @secret or @apikey — in source control, forever.</a:t>
            </a:r>
            <a:endParaRPr lang="en-US" sz="11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05456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05456"/>
            <a:ext cx="45720" cy="640080"/>
          </a:xfrm>
          <a:prstGeom prst="rect">
            <a:avLst/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1"/>
          <p:cNvSpPr/>
          <p:nvPr/>
        </p:nvSpPr>
        <p:spPr>
          <a:xfrm>
            <a:off x="777240" y="2551176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SRD0074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5511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Weak hashing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3400" y="25511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HASHBYTES with MD5 or SHA1. Still compiles. Still broken.</a:t>
            </a:r>
            <a:endParaRPr lang="en-US" sz="1100" dirty="0"/>
          </a:p>
        </p:txBody>
      </p:sp>
      <p:sp>
        <p:nvSpPr>
          <p:cNvPr id="16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55264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55264"/>
            <a:ext cx="45720" cy="640080"/>
          </a:xfrm>
          <a:prstGeom prst="rect">
            <a:avLst/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SQL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33009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Injection patterns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43400" y="33009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Concatenated EXEC strings, flagged where parameterized sp_executesql belongs.</a:t>
            </a:r>
            <a:endParaRPr lang="en-US" sz="1100" dirty="0"/>
          </a:p>
        </p:txBody>
      </p:sp>
      <p:sp>
        <p:nvSpPr>
          <p:cNvPr id="2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05072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05072"/>
            <a:ext cx="45720" cy="640080"/>
          </a:xfrm>
          <a:prstGeom prst="rect">
            <a:avLst/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Text 21"/>
          <p:cNvSpPr/>
          <p:nvPr/>
        </p:nvSpPr>
        <p:spPr>
          <a:xfrm>
            <a:off x="777240" y="40507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SRD0017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4050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without WHERE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43400" y="40507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missing predicate between a routine fix and a very long evening.</a:t>
            </a:r>
            <a:endParaRPr lang="en-US" sz="1100" dirty="0"/>
          </a:p>
        </p:txBody>
      </p:sp>
      <p:sp>
        <p:nvSpPr>
          <p:cNvPr id="26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7" name="Text 25"/>
          <p:cNvSpPr/>
          <p:nvPr/>
        </p:nvSpPr>
        <p:spPr>
          <a:xfrm>
            <a:off x="54864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code analysis for T-SQL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937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>
              <a:alpha val="9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kick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54864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Text 2"/>
          <p:cNvSpPr/>
          <p:nvPr/>
        </p:nvSpPr>
        <p:spPr>
          <a:xfrm>
            <a:off x="713232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— THE BUILD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rules, now as a gate</a:t>
            </a:r>
            <a:endParaRPr lang="en-US" sz="3000" dirty="0"/>
          </a:p>
        </p:txBody>
      </p:sp>
      <p:sp>
        <p:nvSpPr>
          <p:cNvPr id="7" name="co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81328"/>
            <a:ext cx="411480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777240" y="1591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3C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" y="1847088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C3C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&lt;PropertyGroup&gt;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&lt;RunSqlCodeAnalysis&gt;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True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&lt;/RunSqlCodeAnalysis&gt;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&lt;CodeAnalysisRules&gt;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</a:t>
            </a:r>
            <a:r>
              <a:rPr lang="en-US" sz="1050" dirty="0" err="1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SqlServer.Rules.SRN</a:t>
            </a: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*;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+!SqlServer.Rules.SRD0006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&lt;/CodeAnalysisRules&gt;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C3C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&lt;/PropertyGroup&gt;</a:t>
            </a:r>
            <a:endParaRPr lang="en-US" sz="1050" dirty="0"/>
          </a:p>
        </p:txBody>
      </p:sp>
      <p:sp>
        <p:nvSpPr>
          <p:cNvPr id="10" name="lis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1481328"/>
            <a:ext cx="379476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719072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5321808" y="1600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Violations become build output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21808" y="1828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14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267712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321808" y="2148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 what matters to errors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21808" y="23774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17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816352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Text 15"/>
          <p:cNvSpPr/>
          <p:nvPr/>
        </p:nvSpPr>
        <p:spPr>
          <a:xfrm>
            <a:off x="5321808" y="2697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Suppress deliberately, in source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21808" y="29260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20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364992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Text 18"/>
          <p:cNvSpPr/>
          <p:nvPr/>
        </p:nvSpPr>
        <p:spPr>
          <a:xfrm>
            <a:off x="5321808" y="3246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wherever dotnet build runs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21808" y="3474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23" name="closing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Text 21"/>
          <p:cNvSpPr/>
          <p:nvPr/>
        </p:nvSpPr>
        <p:spPr>
          <a:xfrm>
            <a:off x="822960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Editor and pipeline read the same configuration — so the build never tells a developer something the editor didn't.</a:t>
            </a:r>
            <a:endParaRPr lang="en-US" sz="1250" dirty="0"/>
          </a:p>
        </p:txBody>
      </p:sp>
      <p:sp>
        <p:nvSpPr>
          <p:cNvPr id="2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Text 23"/>
          <p:cNvSpPr/>
          <p:nvPr/>
        </p:nvSpPr>
        <p:spPr>
          <a:xfrm>
            <a:off x="54864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code analysis for T-SQL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863840" y="4937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3CE0F-473C-0F5C-7ACA-2FFA1246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EA46755A-D636-ACC3-E437-544BFDCED8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57" b="425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scrim">
            <a:extLst>
              <a:ext uri="{FF2B5EF4-FFF2-40B4-BE49-F238E27FC236}">
                <a16:creationId xmlns:a16="http://schemas.microsoft.com/office/drawing/2014/main" id="{49D2947E-296C-F2F3-9F9D-CD377E094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82498" y="0"/>
            <a:ext cx="9144000" cy="5143500"/>
          </a:xfrm>
          <a:prstGeom prst="rect">
            <a:avLst/>
          </a:prstGeom>
          <a:solidFill>
            <a:srgbClr val="0E1116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kicker rule">
            <a:extLst>
              <a:ext uri="{FF2B5EF4-FFF2-40B4-BE49-F238E27FC236}">
                <a16:creationId xmlns:a16="http://schemas.microsoft.com/office/drawing/2014/main" id="{D30B2955-9D56-615A-C3FA-C38E762EE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5F5B33B-789F-A277-9B71-7785F25F9589}"/>
              </a:ext>
            </a:extLst>
          </p:cNvPr>
          <p:cNvSpPr/>
          <p:nvPr/>
        </p:nvSpPr>
        <p:spPr>
          <a:xfrm>
            <a:off x="713232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10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4F5730E-702D-7000-20D1-31BF79B208AC}"/>
              </a:ext>
            </a:extLst>
          </p:cNvPr>
          <p:cNvSpPr/>
          <p:nvPr/>
        </p:nvSpPr>
        <p:spPr>
          <a:xfrm>
            <a:off x="54864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cs typeface="Segoe UI" pitchFamily="34" charset="-120"/>
              </a:rPr>
              <a:t>Enable once, run everywhere</a:t>
            </a:r>
            <a:endParaRPr lang="en-US" sz="3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0AF6540-F8C3-9F76-C85A-A64D1F25EEF2}"/>
              </a:ext>
            </a:extLst>
          </p:cNvPr>
          <p:cNvSpPr/>
          <p:nvPr/>
        </p:nvSpPr>
        <p:spPr>
          <a:xfrm>
            <a:off x="82296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1C2EAB2-D659-08D0-6C90-F98B35D48A3B}"/>
              </a:ext>
            </a:extLst>
          </p:cNvPr>
          <p:cNvSpPr/>
          <p:nvPr/>
        </p:nvSpPr>
        <p:spPr>
          <a:xfrm>
            <a:off x="822960" y="2121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 dev PC</a:t>
            </a:r>
            <a:endParaRPr lang="en-US" sz="13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ABD1824-F6B3-CF50-EA1A-B2277FBD0C66}"/>
              </a:ext>
            </a:extLst>
          </p:cNvPr>
          <p:cNvSpPr/>
          <p:nvPr/>
        </p:nvSpPr>
        <p:spPr>
          <a:xfrm>
            <a:off x="822960" y="2450592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FC54567-AD76-4A63-C4F9-E3712C726E01}"/>
              </a:ext>
            </a:extLst>
          </p:cNvPr>
          <p:cNvSpPr/>
          <p:nvPr/>
        </p:nvSpPr>
        <p:spPr>
          <a:xfrm>
            <a:off x="356616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FCDFEA6-ACC3-267B-E521-7DEE526E8BD5}"/>
              </a:ext>
            </a:extLst>
          </p:cNvPr>
          <p:cNvSpPr/>
          <p:nvPr/>
        </p:nvSpPr>
        <p:spPr>
          <a:xfrm>
            <a:off x="3566160" y="2121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Segoe UI" pitchFamily="34" charset="0"/>
                <a:cs typeface="Segoe UI" pitchFamily="34" charset="-120"/>
              </a:rPr>
              <a:t>Build pipelines (CI)	</a:t>
            </a:r>
            <a:endParaRPr lang="en-US" sz="13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CE9B193-639C-0DD0-A656-477783D1777C}"/>
              </a:ext>
            </a:extLst>
          </p:cNvPr>
          <p:cNvSpPr/>
          <p:nvPr/>
        </p:nvSpPr>
        <p:spPr>
          <a:xfrm>
            <a:off x="3566160" y="2450592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B4AD1C6-6CEB-089D-EE14-63668B974746}"/>
              </a:ext>
            </a:extLst>
          </p:cNvPr>
          <p:cNvSpPr/>
          <p:nvPr/>
        </p:nvSpPr>
        <p:spPr>
          <a:xfrm>
            <a:off x="6309360" y="2121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Segoe UI" pitchFamily="34" charset="0"/>
                <a:cs typeface="Segoe UI" pitchFamily="34" charset="-120"/>
              </a:rPr>
              <a:t>Adjust as you progress</a:t>
            </a:r>
            <a:endParaRPr lang="en-US" sz="13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BB328CA-49AA-DF74-61D4-02CE385190EA}"/>
              </a:ext>
            </a:extLst>
          </p:cNvPr>
          <p:cNvSpPr/>
          <p:nvPr/>
        </p:nvSpPr>
        <p:spPr>
          <a:xfrm>
            <a:off x="6309360" y="2450592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78F308D-84B6-5001-2C3E-E1BB8BF94EE8}"/>
              </a:ext>
            </a:extLst>
          </p:cNvPr>
          <p:cNvSpPr/>
          <p:nvPr/>
        </p:nvSpPr>
        <p:spPr>
          <a:xfrm>
            <a:off x="822960" y="4023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analyzer supplies the deterministic judgment. You </a:t>
            </a:r>
            <a:r>
              <a:rPr lang="en-US" sz="1400" i="1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in charge.</a:t>
            </a:r>
            <a:endParaRPr lang="en-US" sz="1400" dirty="0"/>
          </a:p>
        </p:txBody>
      </p:sp>
      <p:sp>
        <p:nvSpPr>
          <p:cNvPr id="24" name="footer rule">
            <a:extLst>
              <a:ext uri="{FF2B5EF4-FFF2-40B4-BE49-F238E27FC236}">
                <a16:creationId xmlns:a16="http://schemas.microsoft.com/office/drawing/2014/main" id="{CCFB9356-5F7E-1794-9AB2-59DE797E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533F7975-3724-A681-C85F-AE6D74C4C086}"/>
              </a:ext>
            </a:extLst>
          </p:cNvPr>
          <p:cNvSpPr/>
          <p:nvPr/>
        </p:nvSpPr>
        <p:spPr>
          <a:xfrm>
            <a:off x="54864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code analysis for T-SQL</a:t>
            </a:r>
            <a:endParaRPr lang="en-US" sz="9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AB98836-7C86-9976-6667-4A64659B0208}"/>
              </a:ext>
            </a:extLst>
          </p:cNvPr>
          <p:cNvSpPr/>
          <p:nvPr/>
        </p:nvSpPr>
        <p:spPr>
          <a:xfrm>
            <a:off x="7863840" y="4937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0772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4257" b="425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82498" y="0"/>
            <a:ext cx="9144000" cy="5143500"/>
          </a:xfrm>
          <a:prstGeom prst="rect">
            <a:avLst/>
          </a:prstGeom>
          <a:solidFill>
            <a:srgbClr val="0E1116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kick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Text 2"/>
          <p:cNvSpPr/>
          <p:nvPr/>
        </p:nvSpPr>
        <p:spPr>
          <a:xfrm>
            <a:off x="713232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fixes what the analyzer found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2121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squiggle appears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2450592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56616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566160" y="2121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MCP Server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566160" y="2450592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09360" y="2121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fix, then the proof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309360" y="2450592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2" name="closing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77640"/>
            <a:ext cx="80467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822960" y="4023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analyzer supplies the deterministic judgment. Copilot supplies the typing.</a:t>
            </a:r>
            <a:endParaRPr lang="en-US" sz="1400" dirty="0"/>
          </a:p>
        </p:txBody>
      </p:sp>
      <p:sp>
        <p:nvSpPr>
          <p:cNvPr id="2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5" name="Text 22"/>
          <p:cNvSpPr/>
          <p:nvPr/>
        </p:nvSpPr>
        <p:spPr>
          <a:xfrm>
            <a:off x="54864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code analysis for T-SQL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863840" y="4937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4048"/>
            <a:ext cx="54864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713232" y="365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where the cost is lowest</a:t>
            </a:r>
            <a:endParaRPr lang="en-US" sz="3000" dirty="0"/>
          </a:p>
        </p:txBody>
      </p:sp>
      <p:sp>
        <p:nvSpPr>
          <p:cNvPr id="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54480"/>
            <a:ext cx="3931920" cy="1060704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54480"/>
            <a:ext cx="45720" cy="1060704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841248" y="1682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the extension (VS, VS Code, SSMS)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1975104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minutes, zero configuration, immediate feedback on every .sql file you open.</a:t>
            </a:r>
            <a:endParaRPr lang="en-US" sz="11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3931920" cy="1060704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45720" cy="1060704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4956048" y="1682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it on at build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956048" y="1975104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the rules package to the SQL project and set analysis to run. Warnings first.</a:t>
            </a:r>
            <a:endParaRPr lang="en-US" sz="1150" dirty="0"/>
          </a:p>
        </p:txBody>
      </p:sp>
      <p:sp>
        <p:nvSpPr>
          <p:cNvPr id="13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98064"/>
            <a:ext cx="3931920" cy="1060704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98064"/>
            <a:ext cx="45720" cy="1060704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3"/>
          <p:cNvSpPr/>
          <p:nvPr/>
        </p:nvSpPr>
        <p:spPr>
          <a:xfrm>
            <a:off x="841248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 rules gradually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1248" y="321868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Warning, then error — once the codebase is clean. Never bulk-suppress.</a:t>
            </a:r>
            <a:endParaRPr lang="en-US" sz="115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798064"/>
            <a:ext cx="3931920" cy="1060704"/>
          </a:xfrm>
          <a:prstGeom prst="rect">
            <a:avLst/>
          </a:prstGeom>
          <a:solidFill>
            <a:srgbClr val="161B22"/>
          </a:solidFill>
          <a:ln w="12700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798064"/>
            <a:ext cx="45720" cy="1060704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Text 17"/>
          <p:cNvSpPr/>
          <p:nvPr/>
        </p:nvSpPr>
        <p:spPr>
          <a:xfrm>
            <a:off x="4956048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the agent close the loop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956048" y="321868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CB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rule id and a rationale are the best prompt Copilot can get.</a:t>
            </a:r>
            <a:endParaRPr lang="en-US" sz="1150" dirty="0"/>
          </a:p>
        </p:txBody>
      </p:sp>
      <p:sp>
        <p:nvSpPr>
          <p:cNvPr id="21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133088"/>
            <a:ext cx="804672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Text 20"/>
          <p:cNvSpPr/>
          <p:nvPr/>
        </p:nvSpPr>
        <p:spPr>
          <a:xfrm>
            <a:off x="548640" y="4261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and docs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42611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github.com/ErikEJ/SqlServer.Rules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35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45354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T-SQL Analyzer, on the VS Code Marketplace</a:t>
            </a:r>
            <a:endParaRPr lang="en-US" sz="1200" dirty="0"/>
          </a:p>
        </p:txBody>
      </p:sp>
      <p:sp>
        <p:nvSpPr>
          <p:cNvPr id="26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18288"/>
          </a:xfrm>
          <a:prstGeom prst="rect">
            <a:avLst/>
          </a:prstGeom>
          <a:solidFill>
            <a:srgbClr val="232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7" name="Text 25"/>
          <p:cNvSpPr/>
          <p:nvPr/>
        </p:nvSpPr>
        <p:spPr>
          <a:xfrm>
            <a:off x="54864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code analysis for T-SQL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9377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8b88054-75b3-44d0-afa1-ca488e2a0f79}" enabled="1" method="Privileged" siteId="{0d3aa8f9-8168-4bc2-bda1-c3972e6d93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917</Words>
  <Application>Microsoft Office PowerPoint</Application>
  <PresentationFormat>On-screen Show (16:9)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Ejlskov Jensen (Context&amp;)</dc:creator>
  <cp:lastModifiedBy>Erik Ejlskov Jensen (Context&amp;)</cp:lastModifiedBy>
  <cp:revision>1</cp:revision>
  <dcterms:created xsi:type="dcterms:W3CDTF">2026-09-11T11:15:35Z</dcterms:created>
  <dcterms:modified xsi:type="dcterms:W3CDTF">2026-09-16T05:34:22Z</dcterms:modified>
</cp:coreProperties>
</file>